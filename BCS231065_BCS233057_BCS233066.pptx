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06640" y="228600"/>
            <a:ext cx="146304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06640" y="22860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1 DELIVERABLE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200" dirty="0">
                <a:solidFill>
                  <a:srgbClr val="FFFFFF"/>
                </a:solidFill>
              </a:rPr>
              <a:t>PortfolioAI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CCE3"/>
                </a:solidFill>
              </a:rPr>
              <a:t>AI-Based Long-Term Investment Advisory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9CCE3"/>
                </a:solidFill>
              </a:rPr>
              <a:t>&amp; Portfolio Optimization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Course: </a:t>
            </a:r>
            <a:r>
              <a:rPr lang="en-US" sz="1100" dirty="0">
                <a:solidFill>
                  <a:srgbClr val="A9CCE3"/>
                </a:solidFill>
              </a:rPr>
              <a:t>Artificial Intelligence  ·  BS CS 6th Semester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Supervisor: </a:t>
            </a:r>
            <a:r>
              <a:rPr lang="en-US" sz="1100" dirty="0">
                <a:solidFill>
                  <a:srgbClr val="A9CCE3"/>
                </a:solidFill>
              </a:rPr>
              <a:t>Dr. Muhammad Abdul Qadir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9242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University: </a:t>
            </a:r>
            <a:r>
              <a:rPr lang="en-US" sz="1100" dirty="0">
                <a:solidFill>
                  <a:srgbClr val="A9CCE3"/>
                </a:solidFill>
              </a:rPr>
              <a:t>Capital University of Science &amp; Technology, Islamabad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2606040" cy="960120"/>
          </a:xfrm>
          <a:prstGeom prst="rect">
            <a:avLst/>
          </a:prstGeom>
          <a:solidFill>
            <a:srgbClr val="1A2F47"/>
          </a:solidFill>
          <a:ln w="9525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388620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C1"/>
                </a:solidFill>
              </a:rPr>
              <a:t>Student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408736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Muhammad Omer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436168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BCS233066  ·  Data Engineer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3840480"/>
            <a:ext cx="2606040" cy="960120"/>
          </a:xfrm>
          <a:prstGeom prst="rect">
            <a:avLst/>
          </a:prstGeom>
          <a:solidFill>
            <a:srgbClr val="1A2F47"/>
          </a:solidFill>
          <a:ln w="9525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1568" y="388620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C1"/>
                </a:solidFill>
              </a:rPr>
              <a:t>Student 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01568" y="408736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Saeed Ur Rehman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436168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BCS233057  ·  UI &amp; Visualization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2606040" cy="960120"/>
          </a:xfrm>
          <a:prstGeom prst="rect">
            <a:avLst/>
          </a:prstGeom>
          <a:solidFill>
            <a:srgbClr val="1A2F47"/>
          </a:solidFill>
          <a:ln w="9525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36208" y="388620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C1"/>
                </a:solidFill>
              </a:rPr>
              <a:t>Student 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36208" y="408736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Azan Zafar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36208" y="436168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BCS231065  ·  AI Optimization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June 5,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Problem Definition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758952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86C1"/>
                </a:solidFill>
              </a:rPr>
              <a:t>What are we building?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657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7"/>
                </a:solidFill>
              </a:rPr>
              <a:t>Individual investors lack access to intelligent, personalized advisory tools that can analyze multiple stocks against their risk profile, investment duration, and return expectations.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</a:rPr>
              <a:t>Example User Queries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99923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F47"/>
                </a:solidFill>
              </a:rPr>
              <a:t>"Invest 5M PKR for 5 years, medium risk"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40156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F47"/>
                </a:solidFill>
              </a:rPr>
              <a:t>"Suggest portfolio with 30%+ return"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80390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F47"/>
                </a:solidFill>
              </a:rPr>
              <a:t>"Avoid high-risk stocks, prefer dividends"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28016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842"/>
                </a:solidFill>
              </a:rPr>
              <a:t>System Objectives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1664208"/>
            <a:ext cx="237744" cy="23774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30368" y="164592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</a:rPr>
              <a:t>Model investment decisions as an AI optimization problem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2176272"/>
            <a:ext cx="237744" cy="23774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30368" y="215798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</a:rPr>
              <a:t>Define heuristic scoring system for stock evaluation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2688336"/>
            <a:ext cx="237744" cy="23774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0368" y="2670048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</a:rPr>
              <a:t>Implement Hill Climbing &amp; Simulated Annealing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3200400"/>
            <a:ext cx="237744" cy="23774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30368" y="318211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</a:rPr>
              <a:t>Generate explainable, plain-English recommendations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3712464"/>
            <a:ext cx="237744" cy="23774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30368" y="3694176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</a:rPr>
              <a:t>Visualize allocations, risk-return tradeoffs &amp; growth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Presented by: Muhammad Omer  ·  BCS233066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470916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PortfolioAI  ·  AI Project  ·  CUST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Dataset Collection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758952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86C1"/>
                </a:solidFill>
              </a:rPr>
              <a:t>Data Foundation &amp; Sources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2651760" cy="2926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6128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48132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7"/>
                </a:solidFill>
              </a:rPr>
              <a:t>Yahoo Finance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764792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Historical OHLCV data via yfinance API (v1.4.1). 5-year daily prices for 15 PSX stocks with .KA suffix.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651760" cy="2926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16128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SECONDARY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1568" y="148132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7"/>
                </a:solidFill>
              </a:rPr>
              <a:t>Pakistan Stock Exchange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1764792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PSX-listed company profiles, sector classifications, and annual dividend yield data.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1143000"/>
            <a:ext cx="2651760" cy="2926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116128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BACKUP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81928" y="148132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7"/>
                </a:solidFill>
              </a:rPr>
              <a:t>PSX Annual Reports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81928" y="1764792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Dividend yield substituted from PSX reports where Yahoo Finance returns zero for PSX tickers.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834640"/>
            <a:ext cx="192024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87121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842"/>
                </a:solidFill>
              </a:rPr>
              <a:t>15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11480" y="333756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CE3"/>
                </a:solidFill>
              </a:rPr>
              <a:t>PSX Stocks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87752" y="2834640"/>
            <a:ext cx="192024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87752" y="287121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842"/>
                </a:solidFill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587752" y="333756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CE3"/>
                </a:solidFill>
              </a:rPr>
              <a:t>Years of Data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834640"/>
            <a:ext cx="192024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64024" y="287121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842"/>
                </a:solidFill>
              </a:rPr>
              <a:t>11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764024" y="333756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CE3"/>
                </a:solidFill>
              </a:rPr>
              <a:t>Features per Stock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40296" y="2834640"/>
            <a:ext cx="192024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40296" y="287121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842"/>
                </a:solidFill>
              </a:rPr>
              <a:t>~1,800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940296" y="333756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CE3"/>
                </a:solidFill>
              </a:rPr>
              <a:t>Daily Records/Stock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382219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7"/>
                </a:solidFill>
              </a:rPr>
              <a:t>Target Stocks (June 2020 – June 2025):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4133088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133088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MCB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508760" y="4133088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508760" y="4133088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ENGRO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06040" y="4133088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06040" y="4133088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HBL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03320" y="4133088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703320" y="4133088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OGDC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4133088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0600" y="4133088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PPL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897880" y="4133088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897880" y="4133088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LUCK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995160" y="4133088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95160" y="4133088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PSO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092440" y="4133088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092440" y="4133088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UBL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1480" y="4480560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11480" y="4480560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FFC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508760" y="4480560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508760" y="4480560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EFERT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606040" y="4480560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606040" y="4480560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HUBC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703320" y="4480560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703320" y="4480560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KAPCO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00600" y="4480560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00600" y="4480560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NESTLE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897880" y="4480560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897880" y="4480560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SEARL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95160" y="4480560"/>
            <a:ext cx="9601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995160" y="4480560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TRG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65760" y="470916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Presented by: Muhammad Omer  ·  BCS233066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114800" y="470916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PortfolioAI  ·  AI Project  ·  CUST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Stock Features Identified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758952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86C1"/>
                </a:solidFill>
              </a:rPr>
              <a:t>Inputs to the Heuristic Scoring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2697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54864" cy="5669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1521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F47"/>
                </a:solidFill>
              </a:rPr>
              <a:t>Avg Annual Growth (%)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38988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CAGR from 5-year historical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10128" y="1115568"/>
            <a:ext cx="2697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10128" y="1115568"/>
            <a:ext cx="54864" cy="5669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1521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F47"/>
                </a:solidFill>
              </a:rPr>
              <a:t>Volatility (%)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138988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Std dev of daily returns × √252 × 100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08776" y="1115568"/>
            <a:ext cx="2697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08776" y="1115568"/>
            <a:ext cx="54864" cy="5669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73368" y="11521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F47"/>
                </a:solidFill>
              </a:rPr>
              <a:t>Dividend Yield (%)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73368" y="138988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Annual dividend ÷ current stock price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1773936"/>
            <a:ext cx="2697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1773936"/>
            <a:ext cx="54864" cy="5669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" y="181051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F47"/>
                </a:solidFill>
              </a:rPr>
              <a:t>Sector Classification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6072" y="204825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Industry group from PSX listing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10128" y="1773936"/>
            <a:ext cx="2697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10128" y="1773936"/>
            <a:ext cx="54864" cy="5669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181051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F47"/>
                </a:solidFill>
              </a:rPr>
              <a:t>Historical Stability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0" y="204825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Composite stability metric (0–100)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08776" y="1773936"/>
            <a:ext cx="2697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08776" y="1773936"/>
            <a:ext cx="54864" cy="5669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73368" y="181051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F47"/>
                </a:solidFill>
              </a:rPr>
              <a:t>Risk Score (0–100)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73368" y="204825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Derived from volatility and beta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487168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7"/>
                </a:solidFill>
              </a:rPr>
              <a:t>Sample Data — 5 of 15 Stocks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411480" y="2788920"/>
          <a:ext cx="8321040" cy="16459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Ticker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Price (PKR)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Growth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Volatility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Div. Yield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MCB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Banking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412.62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38.18%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25.38 (Med)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8.5%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ENGRO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Fertilizer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485.38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31.71%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24.85 (Med)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5.2%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HBL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Banking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286.06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26.78%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32.64 (Med)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6.0%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OGDC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Energy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324.56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37.18%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35.05 (High)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7.8%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PPL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Energy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232.78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24.72%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38.52 (High)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F47"/>
                          </a:solidFill>
                        </a:rPr>
                        <a:t>6.5%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65760" y="470916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Presented by: Muhammad Omer  ·  BCS233066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114800" y="470916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PortfolioAI  ·  AI Project  ·  CUST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Heuristic Design Draft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758952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86C1"/>
                </a:solidFill>
              </a:rPr>
              <a:t>AI Scoring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Heuristic Design Draft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758952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CE3"/>
                </a:solidFill>
              </a:rPr>
              <a:t>AI Scoring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2344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842"/>
                </a:solidFill>
              </a:rPr>
              <a:t>Scoring Weights  (Total: 100 pts)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Long-Term Growth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1636776"/>
            <a:ext cx="1737360" cy="1828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51960" y="1609344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+30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11226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Sector Diversification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63240" y="2148840"/>
            <a:ext cx="1188720" cy="1828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03320" y="212140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+20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62432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Low Volatility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63240" y="2660904"/>
            <a:ext cx="1188720" cy="1828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03320" y="263347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+20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13639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Dividend Stability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3172968"/>
            <a:ext cx="868680" cy="1828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83280" y="3145536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+15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64845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Momentum Trend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63240" y="3685032"/>
            <a:ext cx="868680" cy="1828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83280" y="365760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+15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4114800" cy="384048"/>
          </a:xfrm>
          <a:prstGeom prst="rect">
            <a:avLst/>
          </a:prstGeom>
          <a:solidFill>
            <a:srgbClr val="1A2F47"/>
          </a:solidFill>
          <a:ln w="9525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422452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9CCE3"/>
                </a:solidFill>
              </a:rPr>
              <a:t>Score  =  Σ (factor_value × weight)  adjusted by investor risk profile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0" y="1234440"/>
            <a:ext cx="3749040" cy="3291840"/>
          </a:xfrm>
          <a:prstGeom prst="rect">
            <a:avLst/>
          </a:prstGeom>
          <a:solidFill>
            <a:srgbClr val="1A2F47"/>
          </a:solidFill>
          <a:ln w="9525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12080" y="13258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842"/>
                </a:solidFill>
              </a:rPr>
              <a:t>Explainability in UI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66360" y="1719072"/>
            <a:ext cx="128016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66360" y="171907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Score Card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7960" y="173736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0–100 score with progress bar per stock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66360" y="2212848"/>
            <a:ext cx="128016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66360" y="221284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Why Selected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37960" y="223113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Plain-English reason per factor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66360" y="2706624"/>
            <a:ext cx="128016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66360" y="2706624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Volatility Tag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37960" y="272491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Green / Yellow / Red badge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66360" y="3200400"/>
            <a:ext cx="128016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66360" y="320040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Sector Pie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37960" y="321868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Distribution across sectors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66360" y="3694176"/>
            <a:ext cx="128016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66360" y="369417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Risk Match 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37960" y="371246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Profile vs portfolio risk alignment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29200" y="4160520"/>
            <a:ext cx="3749040" cy="457200"/>
          </a:xfrm>
          <a:prstGeom prst="rect">
            <a:avLst/>
          </a:prstGeom>
          <a:solidFill>
            <a:srgbClr val="0B3D6B"/>
          </a:solidFill>
          <a:ln w="9525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166360" y="4187952"/>
            <a:ext cx="3474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CCE3"/>
                </a:solidFill>
              </a:rPr>
              <a:t>"MCB selected: strong historical stability, low volatility matching medium risk profile, 8.5% dividend yield."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470916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Presented by: Saeed Ur Rehman  ·  BCS233057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114800" y="470916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PortfolioAI  ·  AI Project  ·  CUST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Initial UI Mockup —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758952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86C1"/>
                </a:solidFill>
              </a:rPr>
              <a:t>Streamlit-Based 4-Page Application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" y="116128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</a:rPr>
              <a:t>Framework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73352" y="1161288"/>
            <a:ext cx="1325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F47"/>
                </a:solidFill>
              </a:rPr>
              <a:t>Streamlit (Python)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0128" y="1115568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38144" y="116128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</a:rPr>
              <a:t>Charts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0" y="1161288"/>
            <a:ext cx="1325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F47"/>
                </a:solidFill>
              </a:rPr>
              <a:t>Plotly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08776" y="1115568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36792" y="116128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</a:rPr>
              <a:t>Theme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70648" y="1161288"/>
            <a:ext cx="1325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F47"/>
                </a:solidFill>
              </a:rPr>
              <a:t>Dark Mode (#0f1117)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1645920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" y="1691640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</a:rPr>
              <a:t>Fonts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73352" y="1691640"/>
            <a:ext cx="1325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F47"/>
                </a:solidFill>
              </a:rPr>
              <a:t>IBM Plex Sans / Inter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1645920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38144" y="1691640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</a:rPr>
              <a:t>Accent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0" y="1691640"/>
            <a:ext cx="1325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F47"/>
                </a:solidFill>
              </a:rPr>
              <a:t>#58a6ff (muted blue)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286000"/>
            <a:ext cx="1965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2286000"/>
            <a:ext cx="196596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304288"/>
            <a:ext cx="320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842"/>
                </a:solidFill>
              </a:rPr>
              <a:t>01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234086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FFAA"/>
                </a:solidFill>
              </a:rPr>
              <a:t>Week 1 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21208" y="27432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F47"/>
                </a:solidFill>
              </a:rPr>
              <a:t>Investor Profile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1208" y="3044952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Input form: amount, duration, risk appetite, target return, preferred/excluded sectors. Live profile summary card.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87752" y="2286000"/>
            <a:ext cx="1965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87752" y="2286000"/>
            <a:ext cx="1965960" cy="384048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79192" y="2304288"/>
            <a:ext cx="320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CCE3"/>
                </a:solidFill>
              </a:rPr>
              <a:t>02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44952" y="234086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Week 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97480" y="27432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F47"/>
                </a:solidFill>
              </a:rPr>
              <a:t>Recommendations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97480" y="3044952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AI-scored stock list, bar chart, expandable stock cards, explainability blocks, sector distribution pie.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64024" y="2286000"/>
            <a:ext cx="1965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64024" y="2286000"/>
            <a:ext cx="1965960" cy="384048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55464" y="2304288"/>
            <a:ext cx="320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CCE3"/>
                </a:solidFill>
              </a:rPr>
              <a:t>03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21224" y="234086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Week 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73752" y="27432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F47"/>
                </a:solidFill>
              </a:rPr>
              <a:t>Portfolio Optimizer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73752" y="3044952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Side-by-side Hill Climbing vs Simulated Annealing, convergence curves, risk vs return scatter plot.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40296" y="2286000"/>
            <a:ext cx="1965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940296" y="2286000"/>
            <a:ext cx="1965960" cy="384048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031736" y="2304288"/>
            <a:ext cx="320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CCE3"/>
                </a:solidFill>
              </a:rPr>
              <a:t>04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97496" y="234086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</a:rPr>
              <a:t>Week 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050024" y="27432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F47"/>
                </a:solidFill>
              </a:rPr>
              <a:t>Final Dashboard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050024" y="3044952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Projected growth chart, allocation pie, full explainability report, export functionality.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470916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Presented by: Saeed Ur Rehman  ·  BCS233057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0" y="470916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PortfolioAI  ·  AI Project  ·  CUST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Initial UI Mockup — Screenshots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758952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86C1"/>
                </a:solidFill>
              </a:rPr>
              <a:t>Running Application — All Four Pages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4160520" cy="1645920"/>
          </a:xfrm>
          <a:prstGeom prst="rect">
            <a:avLst/>
          </a:prstGeom>
          <a:solidFill>
            <a:srgbClr val="0D1B2A"/>
          </a:solidFill>
          <a:ln w="9525">
            <a:solidFill>
              <a:srgbClr val="2E86C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4160520" cy="27432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13385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C1"/>
                </a:solidFill>
              </a:rPr>
              <a:t>PortfolioAI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C842"/>
                </a:solidFill>
              </a:rPr>
              <a:t>Page 1 — Investor Profile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Screenshot shown in report (page 5–7)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Full Streamlit app running with placeholder data for Week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60520" cy="1645920"/>
          </a:xfrm>
          <a:prstGeom prst="rect">
            <a:avLst/>
          </a:prstGeom>
          <a:solidFill>
            <a:srgbClr val="0D1B2A"/>
          </a:solidFill>
          <a:ln w="9525">
            <a:solidFill>
              <a:srgbClr val="2E86C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60520" cy="27432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113385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C1"/>
                </a:solidFill>
              </a:rPr>
              <a:t>PortfolioAI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92040" y="144475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C842"/>
                </a:solidFill>
              </a:rPr>
              <a:t>Page 2 — Recommendations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Screenshot shown in report (page 5–7)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Full Streamlit app running with placeholder data for Week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880360"/>
            <a:ext cx="4160520" cy="1645920"/>
          </a:xfrm>
          <a:prstGeom prst="rect">
            <a:avLst/>
          </a:prstGeom>
          <a:solidFill>
            <a:srgbClr val="0D1B2A"/>
          </a:solidFill>
          <a:ln w="9525">
            <a:solidFill>
              <a:srgbClr val="2E86C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2880360"/>
            <a:ext cx="4160520" cy="27432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" y="291693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C1"/>
                </a:solidFill>
              </a:rPr>
              <a:t>PortfolioAI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322783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C842"/>
                </a:solidFill>
              </a:rPr>
              <a:t>Page 3 — Portfolio Optimizer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52044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Screenshot shown in report (page 5–7)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Full Streamlit app running with placeholder data for Week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4160520" cy="1645920"/>
          </a:xfrm>
          <a:prstGeom prst="rect">
            <a:avLst/>
          </a:prstGeom>
          <a:solidFill>
            <a:srgbClr val="0D1B2A"/>
          </a:solidFill>
          <a:ln w="9525">
            <a:solidFill>
              <a:srgbClr val="2E86C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2880360"/>
            <a:ext cx="4160520" cy="27432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291693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C1"/>
                </a:solidFill>
              </a:rPr>
              <a:t>PortfolioAI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322783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C842"/>
                </a:solidFill>
              </a:rPr>
              <a:t>Page 4 — Final Dashboard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352044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Screenshot shown in report (page 5–7)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Full Streamlit app running with placeholder data for Week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Presented by: Saeed Ur Rehman  ·  BCS233057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470916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PortfolioAI  ·  AI Project  ·  CUST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Heuristic Scoring — Deep Dive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758952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86C1"/>
                </a:solidFill>
              </a:rPr>
              <a:t>Profile-Adaptive Scoring Logic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61288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Score  =  Σ (factor_value × weight)  ·  adjusted by investor risk profile  ·  range: 0 – 100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39776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3977640" cy="34747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Conservative Profile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22128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7"/>
                </a:solidFill>
              </a:rPr>
              <a:t>Low Volatility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24328" y="22128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A"/>
                </a:solidFill>
              </a:rPr>
              <a:t>+30 (↑ from +20)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25968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7"/>
                </a:solidFill>
              </a:rPr>
              <a:t>Dividend Stability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24328" y="259689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A"/>
                </a:solidFill>
              </a:rPr>
              <a:t>+20 (↑ from +15)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" y="298094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7"/>
                </a:solidFill>
              </a:rPr>
              <a:t>Long-Term Growth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24328" y="298094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A"/>
                </a:solidFill>
              </a:rPr>
              <a:t>+20 (↓ from +30)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33649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7"/>
                </a:solidFill>
              </a:rPr>
              <a:t>Sector Diversification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24328" y="33649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A"/>
                </a:solidFill>
              </a:rPr>
              <a:t>+20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" y="37490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7"/>
                </a:solidFill>
              </a:rPr>
              <a:t>Momentum Trend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24328" y="3749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A"/>
                </a:solidFill>
              </a:rPr>
              <a:t>+10 (↓ from +15)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27448" y="1783080"/>
            <a:ext cx="39776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27448" y="1783080"/>
            <a:ext cx="3977640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1801368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Aggressive Profile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2128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7"/>
                </a:solidFill>
              </a:rPr>
              <a:t>Long-Term Growth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0296" y="22128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</a:rPr>
              <a:t>+40 (↑ from +30)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5968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7"/>
                </a:solidFill>
              </a:rPr>
              <a:t>Momentum Trend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0296" y="259689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</a:rPr>
              <a:t>+25 (↑ from +15)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98094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7"/>
                </a:solidFill>
              </a:rPr>
              <a:t>Low Volatility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0296" y="298094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</a:rPr>
              <a:t>+10 (↓ from +20)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3649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7"/>
                </a:solidFill>
              </a:rPr>
              <a:t>Sector Diversification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0296" y="33649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</a:rPr>
              <a:t>+15 (↓ from +20)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7490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7"/>
                </a:solidFill>
              </a:rPr>
              <a:t>Dividend Stability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0296" y="3749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</a:rPr>
              <a:t>+10 (↓ from +15)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4480560"/>
            <a:ext cx="8321040" cy="13716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462272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F8C8D"/>
                </a:solidFill>
              </a:rPr>
              <a:t>System Constraints: No real-time trading  ·  No brokerage API  ·  No deep learning  ·  No exact price prediction — classical AI only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470916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Presented by: Azan Zafar  ·  BCS231065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0" y="470916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PortfolioAI  ·  AI Project  ·  CUST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Optimization Algorithms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758952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CE3"/>
                </a:solidFill>
              </a:rPr>
              <a:t>Hill Climbing vs Simulated Annealing — Week 3 Implementation Plan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3977640" cy="3291840"/>
          </a:xfrm>
          <a:prstGeom prst="rect">
            <a:avLst/>
          </a:prstGeom>
          <a:solidFill>
            <a:srgbClr val="1A2F47"/>
          </a:solidFill>
          <a:ln w="9525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842"/>
                </a:solidFill>
              </a:rPr>
              <a:t>Hill Climbing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664208"/>
            <a:ext cx="201168" cy="2011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Start with a random portfolio allocation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066544"/>
            <a:ext cx="201168" cy="2011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048256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Evaluate using portfolio utility function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468880"/>
            <a:ext cx="201168" cy="2011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45059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Generate neighbor by shifting allocation ±5%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871216"/>
            <a:ext cx="201168" cy="2011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852928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Accept neighbor only if score improves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3273552"/>
            <a:ext cx="201168" cy="2011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25526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Repeat until no improving neighbor exists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675888"/>
            <a:ext cx="201168" cy="2011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999"/>
                </a:solidFill>
              </a:rPr>
              <a:t>Risk: Gets stuck in local optima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170432"/>
            <a:ext cx="3977640" cy="3291840"/>
          </a:xfrm>
          <a:prstGeom prst="rect">
            <a:avLst/>
          </a:prstGeom>
          <a:solidFill>
            <a:srgbClr val="1A2F47"/>
          </a:solidFill>
          <a:ln w="9525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12618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842"/>
                </a:solidFill>
              </a:rPr>
              <a:t>Simulated Annealing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664208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57800" y="164592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Start with random portfolio allocation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2066544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57800" y="2048256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Evaluate using same utility function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2468880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57800" y="245059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Accept worse solutions with probability e^(-ΔE/T)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37760" y="2871216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57800" y="2852928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Temperature T decreases over iterations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3273552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57800" y="325526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Escape local optima via probabilistic jumps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37760" y="3675888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57800" y="365760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FFAA"/>
                </a:solidFill>
              </a:rPr>
              <a:t>Expected winner: broader search space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470916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Presented by: Azan Zafar  ·  BCS231065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0" y="470916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PortfolioAI  ·  AI Project  ·  CUST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Week 2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758952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CE3"/>
                </a:solidFill>
              </a:rPr>
              <a:t>AI Recommendation Engine  ·  Due 12 June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697480" cy="3246120"/>
          </a:xfrm>
          <a:prstGeom prst="rect">
            <a:avLst/>
          </a:prstGeom>
          <a:solidFill>
            <a:srgbClr val="1A2F47"/>
          </a:solidFill>
          <a:ln w="9525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269748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22529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Muhammad Omer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4904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BCS233066  ·  Data Engineer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883664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186537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→  Build heuristic scoring function in Python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392" y="241401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→  Apply weights to all 15 stocks from CSV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" y="296265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→  Output scored + ranked stock list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392" y="351129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→  Hand data to Student 2 for UI integration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1188720"/>
            <a:ext cx="2697480" cy="3246120"/>
          </a:xfrm>
          <a:prstGeom prst="rect">
            <a:avLst/>
          </a:prstGeom>
          <a:solidFill>
            <a:srgbClr val="1A2F47"/>
          </a:solidFill>
          <a:ln w="9525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10128" y="1188720"/>
            <a:ext cx="269748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19856" y="122529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Saeed Ur Rehman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19856" y="14904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BCS233057  ·  UI &amp; Visualization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47288" y="1883664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49040" y="186537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→  Connect Page 2 to real scored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47288" y="2432304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49040" y="241401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→  Replace dummy stocks with CSV data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47288" y="2980944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49040" y="296265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→  Generate real 'Why selected' explanations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47288" y="3529584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49040" y="351129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→  Update all charts with live 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08776" y="1188720"/>
            <a:ext cx="2697480" cy="3246120"/>
          </a:xfrm>
          <a:prstGeom prst="rect">
            <a:avLst/>
          </a:prstGeom>
          <a:solidFill>
            <a:srgbClr val="1A2F47"/>
          </a:solidFill>
          <a:ln w="9525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08776" y="1188720"/>
            <a:ext cx="269748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18504" y="122529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Azan Zafar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18504" y="14904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CCE3"/>
                </a:solidFill>
              </a:rPr>
              <a:t>BCS231065  ·  AI Optimization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45936" y="1883664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47688" y="186537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→  Begin Hill Climbing implementation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45936" y="2432304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47688" y="241401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→  Define portfolio utility function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45936" y="2980944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47688" y="296265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→  Test optimization with dummy stock data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45936" y="3529584"/>
            <a:ext cx="201168" cy="201168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47688" y="351129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→  Document algorithm design decisions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4370832"/>
            <a:ext cx="832104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11480" y="4379976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Thank you  ·  Questions Welcome  ·  PortfolioAI  ·  AI Project  ·  CUST  ·  June 2026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F47"/>
          </a:solidFill>
          <a:ln w="12700">
            <a:solidFill>
              <a:srgbClr val="1A2F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70916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Presented by: Azan Zafar  ·  BCS231065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14800" y="470916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PortfolioAI  ·  AI Project  ·  CUST  ·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1300</Words>
  <Application>Microsoft Office PowerPoint</Application>
  <PresentationFormat>On-screen Show (16:9)</PresentationFormat>
  <Paragraphs>292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PortfolioAI – Week 1 Report</dc:title>
  <dc:subject>PptxGenJS Presentation</dc:subject>
  <dc:creator>PptxGenJS</dc:creator>
  <cp:lastModifiedBy>Saeed Ur Rehman</cp:lastModifiedBy>
  <cp:revision>5</cp:revision>
  <dcterms:created xsi:type="dcterms:W3CDTF">2026-06-05T16:46:00Z</dcterms:created>
  <dcterms:modified xsi:type="dcterms:W3CDTF">2026-06-08T17:56:49Z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9E3DE881757B4E61B65CA5680FDF6C11_13</vt:lpwstr>
  </property>
  <property fmtid="{D5CDD505-2E9C-101B-9397-08002B2CF9AE}" pid="3" name="KSOProductBuildVer">
    <vt:lpwstr>1033-12.1.0.26880</vt:lpwstr>
  </property>
</Properties>
</file>